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5" r:id="rId16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11480"/>
            <a:ext cx="2194560" cy="2194560"/>
          </a:xfrm>
          <a:prstGeom prst="ellipse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49240"/>
            <a:ext cx="2011680" cy="2011680"/>
          </a:xfrm>
          <a:prstGeom prst="ellipse">
            <a:avLst/>
          </a:prstGeom>
          <a:solidFill>
            <a:srgbClr val="F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5212080"/>
            <a:ext cx="1280160" cy="1280160"/>
          </a:xfrm>
          <a:prstGeom prst="ellipse">
            <a:avLst/>
          </a:prstGeom>
          <a:solidFill>
            <a:srgbClr val="FAE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01168"/>
            <a:ext cx="1234440" cy="5905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5029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C53AE"/>
                </a:solidFill>
                <a:latin typeface="Aptos"/>
              </a:rPr>
              <a:t>PROJECT • 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43000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22B4E"/>
                </a:solidFill>
                <a:latin typeface="Aptos"/>
              </a:rPr>
              <a:t>Ticket Booking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6C53AE"/>
                </a:solidFill>
                <a:latin typeface="Aptos"/>
              </a:rPr>
              <a:t>Concurrency 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E445E"/>
                </a:solidFill>
                <a:latin typeface="Aptos"/>
              </a:rPr>
              <a:t>Reliable Concurrent Ticket Reservation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7D8297"/>
                </a:solidFill>
                <a:latin typeface="Aptos"/>
              </a:rPr>
              <a:t>A reliable booking platform that prevents double booking when multiple users reserve tickets simultaneously.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D8297"/>
                </a:solidFill>
                <a:latin typeface="Aptos"/>
              </a:rPr>
              <a:t>TEAM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35424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E445E"/>
                </a:solidFill>
                <a:latin typeface="Aptos"/>
              </a:rPr>
              <a:t>R SAI CHARAN REDDI — 2520090184
G MANIDEEP PATEL — 2520090100
P AKHIL YADAV — 2520090155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960120"/>
            <a:ext cx="2423160" cy="480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32520" y="1170432"/>
            <a:ext cx="2057400" cy="4370832"/>
          </a:xfrm>
          <a:prstGeom prst="roundRect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8288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2B4E"/>
                </a:solidFill>
                <a:latin typeface="Aptos"/>
              </a:rPr>
              <a:t>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224028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6C53AE"/>
                </a:solidFill>
                <a:latin typeface="Aptos"/>
              </a:rPr>
              <a:t>Book • Synchronize • Confirm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53728" y="3063240"/>
            <a:ext cx="102412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6C5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3209544"/>
            <a:ext cx="1024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6C53AE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80060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7D8297"/>
                </a:solidFill>
                <a:latin typeface="Aptos"/>
              </a:rPr>
              <a:t>Concurrency 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C53AE"/>
                </a:solidFill>
                <a:latin typeface="Aptos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29768"/>
            <a:ext cx="384048" cy="22860"/>
          </a:xfrm>
          <a:prstGeom prst="rect">
            <a:avLst/>
          </a:prstGeom>
          <a:solidFill>
            <a:srgbClr val="6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22B4E"/>
                </a:solidFill>
                <a:latin typeface="Aptos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7D8297"/>
                </a:solidFill>
                <a:latin typeface="Aptos"/>
              </a:rPr>
              <a:t>A concurrency-safe approach to ticket reservation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01168"/>
            <a:ext cx="1234440" cy="590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7D8297"/>
                </a:solidFill>
                <a:latin typeface="Aptos"/>
              </a:rPr>
              <a:t>TICKET BOOKING • CONCURRENCY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7498079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4884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C53AE"/>
                </a:solidFill>
                <a:latin typeface="Aptos"/>
              </a:rP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42032"/>
            <a:ext cx="6812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E445E"/>
                </a:solidFill>
                <a:latin typeface="Aptos"/>
              </a:rPr>
              <a:t>The Ticket Booking System (ConcurrencySafe) is designed to provide a reliable and efficient way for multiple users to book tickets simultaneously. It addresses double booking, incorrect seat availability, and inconsistent transaction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343400"/>
            <a:ext cx="6812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E445E"/>
                </a:solidFill>
                <a:latin typeface="Aptos"/>
              </a:rPr>
              <a:t>The system maintains real-time seat availability and uses synchronization, locking, or other concurrency-control techniques so that only one request can successfully reserve a contested ticket.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828800"/>
            <a:ext cx="3017520" cy="4160520"/>
          </a:xfrm>
          <a:prstGeom prst="roundRect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3317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C53AE"/>
                </a:solidFill>
                <a:latin typeface="Aptos"/>
              </a:rPr>
              <a:t>CONCURRENCY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880360"/>
            <a:ext cx="23774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22B4E"/>
                </a:solidFill>
                <a:latin typeface="Aptos"/>
              </a:rPr>
              <a:t>SAFE
BOOKING
FOR 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983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E445E"/>
                </a:solidFill>
                <a:latin typeface="Aptos"/>
              </a:rPr>
              <a:t>Request • Lock • Confirm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C53AE"/>
                </a:solidFill>
                <a:latin typeface="Aptos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29768"/>
            <a:ext cx="384048" cy="22860"/>
          </a:xfrm>
          <a:prstGeom prst="rect">
            <a:avLst/>
          </a:prstGeom>
          <a:solidFill>
            <a:srgbClr val="6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22B4E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7D8297"/>
                </a:solidFill>
                <a:latin typeface="Aptos"/>
              </a:rPr>
              <a:t>Challenges in concurrent ticket booking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01168"/>
            <a:ext cx="1234440" cy="590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7D8297"/>
                </a:solidFill>
                <a:latin typeface="Aptos"/>
              </a:rPr>
              <a:t>TICKET BOOKING • CONCURRENCY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7132320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969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C53AE"/>
                </a:solidFill>
                <a:latin typeface="Aptos"/>
              </a:rPr>
              <a:t>TRADITIONAL BOOKING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633472"/>
            <a:ext cx="146304" cy="146304"/>
          </a:xfrm>
          <a:prstGeom prst="ellipse">
            <a:avLst/>
          </a:prstGeom>
          <a:solidFill>
            <a:srgbClr val="D6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578608"/>
            <a:ext cx="6053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3E445E"/>
                </a:solidFill>
                <a:latin typeface="Aptos"/>
              </a:rPr>
              <a:t>Multiple users request the same ticket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145536"/>
            <a:ext cx="146304" cy="146304"/>
          </a:xfrm>
          <a:prstGeom prst="ellipse">
            <a:avLst/>
          </a:prstGeom>
          <a:solidFill>
            <a:srgbClr val="D6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090672"/>
            <a:ext cx="6053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3E445E"/>
                </a:solidFill>
                <a:latin typeface="Aptos"/>
              </a:rPr>
              <a:t>Double booking can occur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657600"/>
            <a:ext cx="146304" cy="146304"/>
          </a:xfrm>
          <a:prstGeom prst="ellipse">
            <a:avLst/>
          </a:prstGeom>
          <a:solidFill>
            <a:srgbClr val="D6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602736"/>
            <a:ext cx="6053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3E445E"/>
                </a:solidFill>
                <a:latin typeface="Aptos"/>
              </a:rPr>
              <a:t>Seat availability can become inconsistent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4169663"/>
            <a:ext cx="146304" cy="146304"/>
          </a:xfrm>
          <a:prstGeom prst="ellipse">
            <a:avLst/>
          </a:prstGeom>
          <a:solidFill>
            <a:srgbClr val="D6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114800"/>
            <a:ext cx="6053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3E445E"/>
                </a:solidFill>
                <a:latin typeface="Aptos"/>
              </a:rPr>
              <a:t>Transaction records may become inconsistent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81728"/>
            <a:ext cx="146304" cy="146304"/>
          </a:xfrm>
          <a:prstGeom prst="ellipse">
            <a:avLst/>
          </a:prstGeom>
          <a:solidFill>
            <a:srgbClr val="D6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626864"/>
            <a:ext cx="6053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3E445E"/>
                </a:solidFill>
                <a:latin typeface="Aptos"/>
              </a:rPr>
              <a:t>Shared booking resources need protection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5193792"/>
            <a:ext cx="146304" cy="146304"/>
          </a:xfrm>
          <a:prstGeom prst="ellipse">
            <a:avLst/>
          </a:prstGeom>
          <a:solidFill>
            <a:srgbClr val="D6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138928"/>
            <a:ext cx="6053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3E445E"/>
                </a:solidFill>
                <a:latin typeface="Aptos"/>
              </a:rPr>
              <a:t>Concurrent requests increase system complexity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828800"/>
            <a:ext cx="3383280" cy="4206240"/>
          </a:xfrm>
          <a:prstGeom prst="roundRect">
            <a:avLst/>
          </a:prstGeom>
          <a:solidFill>
            <a:srgbClr val="F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22402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6C53AE"/>
                </a:solidFill>
                <a:latin typeface="Aptos"/>
              </a:rPr>
              <a:t>PROPOSED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880360"/>
            <a:ext cx="26517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22B4E"/>
                </a:solidFill>
                <a:latin typeface="Aptos"/>
              </a:rPr>
              <a:t>Concurrency-safe booking mechanisms ensure that only one transaction reserves a contested ticket and that seat status remains accurate.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C53AE"/>
                </a:solidFill>
                <a:latin typeface="Aptos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29768"/>
            <a:ext cx="384048" cy="22860"/>
          </a:xfrm>
          <a:prstGeom prst="rect">
            <a:avLst/>
          </a:prstGeom>
          <a:solidFill>
            <a:srgbClr val="6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22B4E"/>
                </a:solidFill>
                <a:latin typeface="Aptos"/>
              </a:rPr>
              <a:t>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7D8297"/>
                </a:solidFill>
                <a:latin typeface="Aptos"/>
              </a:rPr>
              <a:t>Tools and technologies for the booking system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01168"/>
            <a:ext cx="1234440" cy="590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7D8297"/>
                </a:solidFill>
                <a:latin typeface="Aptos"/>
              </a:rPr>
              <a:t>TICKET BOOKING • CONCURRENCY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50292" cy="1600200"/>
          </a:xfrm>
          <a:prstGeom prst="rect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299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B4E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414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E445E"/>
                </a:solidFill>
                <a:latin typeface="Aptos"/>
              </a:rPr>
              <a:t>Java
Spring Boot
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50292" cy="1600200"/>
          </a:xfrm>
          <a:prstGeom prst="rect">
            <a:avLst/>
          </a:prstGeom>
          <a:solidFill>
            <a:srgbClr val="E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0299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B4E"/>
                </a:solidFill>
                <a:latin typeface="Aptos"/>
              </a:rPr>
              <a:t>DATA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414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E445E"/>
                </a:solidFill>
                <a:latin typeface="Aptos"/>
              </a:rPr>
              <a:t>Spring Data JPA
Persistent data
Booking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8288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50292" cy="1600200"/>
          </a:xfrm>
          <a:prstGeom prst="rect">
            <a:avLst/>
          </a:prstGeom>
          <a:solidFill>
            <a:srgbClr val="DE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0299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B4E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4414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E445E"/>
                </a:solidFill>
                <a:latin typeface="Aptos"/>
              </a:rPr>
              <a:t>MySQL
Users, tickets, seats
Bookings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947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794760"/>
            <a:ext cx="50292" cy="1600200"/>
          </a:xfrm>
          <a:prstGeom prst="rect">
            <a:avLst/>
          </a:prstGeom>
          <a:solidFill>
            <a:srgbClr val="FAE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99592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B4E"/>
                </a:solidFill>
                <a:latin typeface="Aptos"/>
              </a:rPr>
              <a:t>DEVELOPMENT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40740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E445E"/>
                </a:solidFill>
                <a:latin typeface="Aptos"/>
              </a:rPr>
              <a:t>Maven
IntelliJ IDEA / Eclipse
Git &amp; GitHub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7947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3794760"/>
            <a:ext cx="50292" cy="1600200"/>
          </a:xfrm>
          <a:prstGeom prst="rect">
            <a:avLst/>
          </a:prstGeom>
          <a:solidFill>
            <a:srgbClr val="F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99592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B4E"/>
                </a:solidFill>
                <a:latin typeface="Aptos"/>
              </a:rPr>
              <a:t>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440740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E445E"/>
                </a:solidFill>
                <a:latin typeface="Aptos"/>
              </a:rPr>
              <a:t>Postman
REST API testing
Booking requests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37947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3794760"/>
            <a:ext cx="50292" cy="1600200"/>
          </a:xfrm>
          <a:prstGeom prst="rect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399592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B4E"/>
                </a:solidFill>
                <a:latin typeface="Aptos"/>
              </a:rPr>
              <a:t>CONCURRENCY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40740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E445E"/>
                </a:solidFill>
                <a:latin typeface="Aptos"/>
              </a:rPr>
              <a:t>synchronized
Lock
ExecutorService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cket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C53AE"/>
                </a:solidFill>
                <a:latin typeface="Aptos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29768"/>
            <a:ext cx="384048" cy="22860"/>
          </a:xfrm>
          <a:prstGeom prst="rect">
            <a:avLst/>
          </a:prstGeom>
          <a:solidFill>
            <a:srgbClr val="6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22B4E"/>
                </a:solidFill>
                <a:latin typeface="Aptos"/>
              </a:rP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7D8297"/>
                </a:solidFill>
                <a:latin typeface="Aptos"/>
              </a:rPr>
              <a:t>Key features for reliable ticket booking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01168"/>
            <a:ext cx="1234440" cy="590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7D8297"/>
                </a:solidFill>
                <a:latin typeface="Aptos"/>
              </a:rPr>
              <a:t>TICKET BOOKING • CONCURRENCY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984248"/>
            <a:ext cx="438912" cy="438912"/>
          </a:xfrm>
          <a:prstGeom prst="ellipse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2B4E"/>
                </a:solidFill>
                <a:latin typeface="Aptos"/>
              </a:rPr>
              <a:t>Ticket 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22199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D8297"/>
                </a:solidFill>
                <a:latin typeface="Aptos"/>
              </a:rPr>
              <a:t>View available tickets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8231" y="1984248"/>
            <a:ext cx="438912" cy="438912"/>
          </a:xfrm>
          <a:prstGeom prst="ellipse">
            <a:avLst/>
          </a:prstGeom>
          <a:solidFill>
            <a:srgbClr val="F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195681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2B4E"/>
                </a:solidFill>
                <a:latin typeface="Aptos"/>
              </a:rPr>
              <a:t>Seat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22199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D8297"/>
                </a:solidFill>
                <a:latin typeface="Aptos"/>
              </a:rPr>
              <a:t>Select a ticket / seat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88920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2944368"/>
            <a:ext cx="438912" cy="438912"/>
          </a:xfrm>
          <a:prstGeom prst="ellipse">
            <a:avLst/>
          </a:prstGeom>
          <a:solidFill>
            <a:srgbClr val="E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8176" y="291693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2B4E"/>
                </a:solidFill>
                <a:latin typeface="Aptos"/>
              </a:rPr>
              <a:t>Concurrent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18211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D8297"/>
                </a:solidFill>
                <a:latin typeface="Aptos"/>
              </a:rPr>
              <a:t>Handle multiple users safely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1" y="2944368"/>
            <a:ext cx="438912" cy="438912"/>
          </a:xfrm>
          <a:prstGeom prst="ellipse">
            <a:avLst/>
          </a:prstGeom>
          <a:solidFill>
            <a:srgbClr val="FAE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291693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2B4E"/>
                </a:solidFill>
                <a:latin typeface="Aptos"/>
              </a:rPr>
              <a:t>Synchronization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318211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D8297"/>
                </a:solidFill>
                <a:latin typeface="Aptos"/>
              </a:rPr>
              <a:t>Protect shared booking resources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749039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3904487"/>
            <a:ext cx="438912" cy="438912"/>
          </a:xfrm>
          <a:prstGeom prst="ellipse">
            <a:avLst/>
          </a:prstGeom>
          <a:solidFill>
            <a:srgbClr val="DE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08176" y="3877055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2B4E"/>
                </a:solidFill>
                <a:latin typeface="Aptos"/>
              </a:rPr>
              <a:t>Double-Booking Prevention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4142231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D8297"/>
                </a:solidFill>
                <a:latin typeface="Aptos"/>
              </a:rPr>
              <a:t>Only one request can reserve a ticket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749039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28231" y="3904487"/>
            <a:ext cx="438912" cy="438912"/>
          </a:xfrm>
          <a:prstGeom prst="ellipse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3877055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2B4E"/>
                </a:solidFill>
                <a:latin typeface="Aptos"/>
              </a:rPr>
              <a:t>Real-Time Seat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4142231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D8297"/>
                </a:solidFill>
                <a:latin typeface="Aptos"/>
              </a:rPr>
              <a:t>Update status after booking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709160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59" y="4864608"/>
            <a:ext cx="438912" cy="438912"/>
          </a:xfrm>
          <a:prstGeom prst="ellipse">
            <a:avLst/>
          </a:prstGeom>
          <a:solidFill>
            <a:srgbClr val="F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08176" y="48371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2B4E"/>
                </a:solidFill>
                <a:latin typeface="Aptos"/>
              </a:rPr>
              <a:t>Booking Confirmation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8176" y="510235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D8297"/>
                </a:solidFill>
                <a:latin typeface="Aptos"/>
              </a:rPr>
              <a:t>Confirm successful reservation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709160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28231" y="4864608"/>
            <a:ext cx="438912" cy="438912"/>
          </a:xfrm>
          <a:prstGeom prst="ellipse">
            <a:avLst/>
          </a:prstGeom>
          <a:solidFill>
            <a:srgbClr val="E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3448" y="48371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2B4E"/>
                </a:solidFill>
                <a:latin typeface="Aptos"/>
              </a:rPr>
              <a:t>Accurate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3448" y="510235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D8297"/>
                </a:solidFill>
                <a:latin typeface="Aptos"/>
              </a:rPr>
              <a:t>Maintain consistent transactions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C53AE"/>
                </a:solidFill>
                <a:latin typeface="Aptos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29768"/>
            <a:ext cx="384048" cy="22860"/>
          </a:xfrm>
          <a:prstGeom prst="rect">
            <a:avLst/>
          </a:prstGeom>
          <a:solidFill>
            <a:srgbClr val="6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22B4E"/>
                </a:solidFill>
                <a:latin typeface="Aptos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7D8297"/>
                </a:solidFill>
                <a:latin typeface="Aptos"/>
              </a:rPr>
              <a:t>Main data entities used by the booking system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01168"/>
            <a:ext cx="1234440" cy="590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7D8297"/>
                </a:solidFill>
                <a:latin typeface="Aptos"/>
              </a:rPr>
              <a:t>TICKET BOOKING • CONCURRENCY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3429000" cy="384048"/>
          </a:xfrm>
          <a:prstGeom prst="roundRect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11095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B4E"/>
                </a:solidFill>
                <a:latin typeface="Aptos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E445E"/>
                </a:solidFill>
                <a:latin typeface="Aptos"/>
              </a:rPr>
              <a:t>User ID
Name
Email
Password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1828800"/>
            <a:ext cx="3429000" cy="384048"/>
          </a:xfrm>
          <a:prstGeom prst="roundRect">
            <a:avLst/>
          </a:prstGeom>
          <a:solidFill>
            <a:srgbClr val="E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911095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B4E"/>
                </a:solidFill>
                <a:latin typeface="Aptos"/>
              </a:rPr>
              <a:t>TICKETS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95728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E445E"/>
                </a:solidFill>
                <a:latin typeface="Aptos"/>
              </a:rPr>
              <a:t>Ticket ID
Event
Type
Price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8288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828800"/>
            <a:ext cx="3429000" cy="384048"/>
          </a:xfrm>
          <a:prstGeom prst="roundRect">
            <a:avLst/>
          </a:prstGeom>
          <a:solidFill>
            <a:srgbClr val="DE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1911095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B4E"/>
                </a:solidFill>
                <a:latin typeface="Aptos"/>
              </a:rPr>
              <a:t>SEATS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395728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E445E"/>
                </a:solidFill>
                <a:latin typeface="Aptos"/>
              </a:rPr>
              <a:t>Seat ID
Ticket
Number
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862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3429000" cy="384048"/>
          </a:xfrm>
          <a:prstGeom prst="roundRect">
            <a:avLst/>
          </a:prstGeom>
          <a:solidFill>
            <a:srgbClr val="FAE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968496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B4E"/>
                </a:solidFill>
                <a:latin typeface="Aptos"/>
              </a:rPr>
              <a:t>BOOKINGS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E445E"/>
                </a:solidFill>
                <a:latin typeface="Aptos"/>
              </a:rPr>
              <a:t>Booking ID
User
Ticket
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8862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70832" y="3886200"/>
            <a:ext cx="3429000" cy="384048"/>
          </a:xfrm>
          <a:prstGeom prst="roundRect">
            <a:avLst/>
          </a:prstGeom>
          <a:solidFill>
            <a:srgbClr val="F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3968496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B4E"/>
                </a:solidFill>
                <a:latin typeface="Aptos"/>
              </a:rPr>
              <a:t>BOOKING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453128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E445E"/>
                </a:solidFill>
                <a:latin typeface="Aptos"/>
              </a:rPr>
              <a:t>Reserved / Available
Transaction result
Timestamp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38862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83296" y="3886200"/>
            <a:ext cx="3429000" cy="384048"/>
          </a:xfrm>
          <a:prstGeom prst="roundRect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3968496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B4E"/>
                </a:solidFill>
                <a:latin typeface="Aptos"/>
              </a:rPr>
              <a:t>CONCURRENCY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453128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E445E"/>
                </a:solidFill>
                <a:latin typeface="Aptos"/>
              </a:rPr>
              <a:t>Shared ticket resource
Lock / synchronization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C53AE"/>
                </a:solidFill>
                <a:latin typeface="Aptos"/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29768"/>
            <a:ext cx="384048" cy="22860"/>
          </a:xfrm>
          <a:prstGeom prst="rect">
            <a:avLst/>
          </a:prstGeom>
          <a:solidFill>
            <a:srgbClr val="6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22B4E"/>
                </a:solidFill>
                <a:latin typeface="Aptos"/>
              </a:rPr>
              <a:t>Concurrent Booking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7D8297"/>
                </a:solidFill>
                <a:latin typeface="Aptos"/>
              </a:rPr>
              <a:t>How a booking request moves safely through the system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01168"/>
            <a:ext cx="1234440" cy="590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7D8297"/>
                </a:solidFill>
                <a:latin typeface="Aptos"/>
              </a:rPr>
              <a:t>TICKET BOOKING • CONCURRENCY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23317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075688"/>
            <a:ext cx="438912" cy="438912"/>
          </a:xfrm>
          <a:prstGeom prst="ellipse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157984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2B4E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21408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222B4E"/>
                </a:solidFill>
                <a:latin typeface="Aptos"/>
              </a:rPr>
              <a:t>User Requests Ticket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874519"/>
            <a:ext cx="23317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2075688"/>
            <a:ext cx="438912" cy="438912"/>
          </a:xfrm>
          <a:prstGeom prst="ellipse">
            <a:avLst/>
          </a:prstGeom>
          <a:solidFill>
            <a:srgbClr val="E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157984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2B4E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121408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222B4E"/>
                </a:solidFill>
                <a:latin typeface="Aptos"/>
              </a:rPr>
              <a:t>Check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1874519"/>
            <a:ext cx="23317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2075688"/>
            <a:ext cx="438912" cy="438912"/>
          </a:xfrm>
          <a:prstGeom prst="ellipse">
            <a:avLst/>
          </a:prstGeom>
          <a:solidFill>
            <a:srgbClr val="DE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57984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2B4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121408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222B4E"/>
                </a:solidFill>
                <a:latin typeface="Aptos"/>
              </a:rPr>
              <a:t>Apply Lock / Synchronize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1874519"/>
            <a:ext cx="23317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0" y="2075688"/>
            <a:ext cx="438912" cy="438912"/>
          </a:xfrm>
          <a:prstGeom prst="ellipse">
            <a:avLst/>
          </a:prstGeom>
          <a:solidFill>
            <a:srgbClr val="FAE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157984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2B4E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121408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222B4E"/>
                </a:solidFill>
                <a:latin typeface="Aptos"/>
              </a:rPr>
              <a:t>Reserve Ticket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75688" y="3886200"/>
            <a:ext cx="23317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4087368"/>
            <a:ext cx="438912" cy="438912"/>
          </a:xfrm>
          <a:prstGeom prst="ellipse">
            <a:avLst/>
          </a:prstGeom>
          <a:solidFill>
            <a:srgbClr val="F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4169663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2B4E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133087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222B4E"/>
                </a:solidFill>
                <a:latin typeface="Aptos"/>
              </a:rPr>
              <a:t>Update Ticket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0328" y="3886200"/>
            <a:ext cx="23317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74920" y="4087368"/>
            <a:ext cx="438912" cy="438912"/>
          </a:xfrm>
          <a:prstGeom prst="ellipse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4169663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2B4E"/>
                </a:solidFill>
                <a:latin typeface="Apto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133087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222B4E"/>
                </a:solidFill>
                <a:latin typeface="Aptos"/>
              </a:rPr>
              <a:t>Save Booking Record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44968" y="3886200"/>
            <a:ext cx="23317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9560" y="4087368"/>
            <a:ext cx="438912" cy="438912"/>
          </a:xfrm>
          <a:prstGeom prst="ellipse">
            <a:avLst/>
          </a:prstGeom>
          <a:solidFill>
            <a:srgbClr val="E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4169663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2B4E"/>
                </a:solidFill>
                <a:latin typeface="Aptos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133087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222B4E"/>
                </a:solidFill>
                <a:latin typeface="Aptos"/>
              </a:rPr>
              <a:t>Send Confirmation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235000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C53AE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235000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C53AE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235000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C53AE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437083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C53AE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37083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C53AE"/>
                </a:solidFill>
                <a:latin typeface="Aptos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11680" y="5623560"/>
            <a:ext cx="8183879" cy="475488"/>
          </a:xfrm>
          <a:prstGeom prst="roundRect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5751576"/>
            <a:ext cx="8001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B4E"/>
                </a:solidFill>
                <a:latin typeface="Aptos"/>
              </a:rPr>
              <a:t>REQUEST  →  CHECK  →  LOCK  →  RESERVE  →  UPDATE  →  CONFIRM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01168"/>
            <a:ext cx="1234440" cy="590513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8595360" y="-274320"/>
            <a:ext cx="2560320" cy="2560320"/>
          </a:xfrm>
          <a:prstGeom prst="ellipse">
            <a:avLst/>
          </a:prstGeom>
          <a:solidFill>
            <a:srgbClr val="E2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5212080"/>
            <a:ext cx="2286000" cy="2286000"/>
          </a:xfrm>
          <a:prstGeom prst="ellipse">
            <a:avLst/>
          </a:prstGeom>
          <a:solidFill>
            <a:srgbClr val="F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5394960"/>
            <a:ext cx="1554480" cy="1554480"/>
          </a:xfrm>
          <a:prstGeom prst="ellipse">
            <a:avLst/>
          </a:prstGeom>
          <a:solidFill>
            <a:srgbClr val="FAE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4747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C53AE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6400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222B4E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C53AE"/>
                </a:solidFill>
                <a:latin typeface="Aptos"/>
              </a:rP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438912" cy="27432"/>
          </a:xfrm>
          <a:prstGeom prst="rect">
            <a:avLst/>
          </a:prstGeom>
          <a:solidFill>
            <a:srgbClr val="6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C53AE"/>
                </a:solidFill>
                <a:latin typeface="Aptos"/>
              </a:rPr>
              <a:t>TICKET BOOKING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64992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E445E"/>
                </a:solidFill>
                <a:latin typeface="Aptos"/>
              </a:rPr>
              <a:t>(CONCURRENCY SAFE)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6908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D8297"/>
                </a:solidFill>
                <a:latin typeface="Aptos"/>
              </a:rP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52544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E445E"/>
                </a:solidFill>
                <a:latin typeface="Aptos"/>
              </a:rPr>
              <a:t>R SAI CHARAN REDDI — 2520090184
G MANIDEEP PATEL — 2520090100
P AKHIL YADAV — 2520090155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257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2B4E"/>
                </a:solidFill>
                <a:latin typeface="Aptos"/>
              </a:rPr>
              <a:t>Reliable bookings. Consistent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697382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82332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Ticket Booking System • Concurrency Safe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331720" cy="1143000"/>
          </a:xfrm>
          <a:prstGeom prst="roundRect">
            <a:avLst/>
          </a:prstGeom>
          <a:solidFill>
            <a:srgbClr val="EEF5FF"/>
          </a:solidFill>
          <a:ln w="22860">
            <a:solidFill>
              <a:srgbClr val="24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45CAA"/>
                </a:solidFill>
                <a:latin typeface="Aptos"/>
              </a:rPr>
              <a:t>USER / CLIENT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Booking request • Seat selection
View availability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874519"/>
            <a:ext cx="2560320" cy="1143000"/>
          </a:xfrm>
          <a:prstGeom prst="roundRect">
            <a:avLst/>
          </a:prstGeom>
          <a:solidFill>
            <a:srgbClr val="EFFAF4"/>
          </a:solidFill>
          <a:ln w="22860">
            <a:solidFill>
              <a:srgbClr val="22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27D4E"/>
                </a:solidFill>
                <a:latin typeface="Aptos"/>
              </a:rPr>
              <a:t>SPRING BOOT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REST APIs • Booking logic
Request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874519"/>
            <a:ext cx="2423160" cy="1143000"/>
          </a:xfrm>
          <a:prstGeom prst="roundRect">
            <a:avLst/>
          </a:prstGeom>
          <a:solidFill>
            <a:srgbClr val="FFF8EB"/>
          </a:solidFill>
          <a:ln w="22860">
            <a:solidFill>
              <a:srgbClr val="AF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AF6919"/>
                </a:solidFill>
                <a:latin typeface="Aptos"/>
              </a:rPr>
              <a:t>SPRING DATA JPA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Data access • Persistence
Booking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874519"/>
            <a:ext cx="1554480" cy="1143000"/>
          </a:xfrm>
          <a:prstGeom prst="roundRect">
            <a:avLst/>
          </a:prstGeom>
          <a:solidFill>
            <a:srgbClr val="FAF1F5"/>
          </a:solidFill>
          <a:ln w="22860">
            <a:solidFill>
              <a:srgbClr val="8C3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8C3A69"/>
                </a:solidFill>
                <a:latin typeface="Aptos"/>
              </a:rPr>
              <a:t>MYSQL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Users • Tickets
Seats • Bookings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450592"/>
            <a:ext cx="640080" cy="0"/>
          </a:xfrm>
          <a:prstGeom prst="line">
            <a:avLst/>
          </a:prstGeom>
          <a:ln w="25400">
            <a:solidFill>
              <a:srgbClr val="505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263640" y="2450592"/>
            <a:ext cx="640080" cy="0"/>
          </a:xfrm>
          <a:prstGeom prst="line">
            <a:avLst/>
          </a:prstGeom>
          <a:ln w="25400">
            <a:solidFill>
              <a:srgbClr val="505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880" y="2450592"/>
            <a:ext cx="594360" cy="0"/>
          </a:xfrm>
          <a:prstGeom prst="line">
            <a:avLst/>
          </a:prstGeom>
          <a:ln w="25400">
            <a:solidFill>
              <a:srgbClr val="505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88920" y="3794760"/>
            <a:ext cx="6126480" cy="1234440"/>
          </a:xfrm>
          <a:prstGeom prst="roundRect">
            <a:avLst/>
          </a:prstGeom>
          <a:solidFill>
            <a:srgbClr val="FFF5F5"/>
          </a:solidFill>
          <a:ln w="22860">
            <a:solidFill>
              <a:srgbClr val="B1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B13939"/>
                </a:solidFill>
                <a:latin typeface="Aptos"/>
              </a:rPr>
              <a:t>CONCURRENCY CONTROL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synchronized • Lock • ExecutorService
Protect shared ticket resources and prevent double booking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3017520"/>
            <a:ext cx="0" cy="777240"/>
          </a:xfrm>
          <a:prstGeom prst="line">
            <a:avLst/>
          </a:prstGeom>
          <a:ln w="25400">
            <a:solidFill>
              <a:srgbClr val="505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394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697382"/>
                </a:solidFill>
                <a:latin typeface="Aptos"/>
              </a:rPr>
              <a:t>SAFE BOOKING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806440"/>
            <a:ext cx="1627632" cy="1143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6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65269"/>
                </a:solidFill>
                <a:latin typeface="Aptos"/>
              </a:rPr>
              <a:t>1  REQUEST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User requests ticket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13432" y="6382512"/>
            <a:ext cx="182880" cy="0"/>
          </a:xfrm>
          <a:prstGeom prst="line">
            <a:avLst/>
          </a:prstGeom>
          <a:ln w="25400">
            <a:solidFill>
              <a:srgbClr val="505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60320" y="5806440"/>
            <a:ext cx="1627632" cy="1143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6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65269"/>
                </a:solidFill>
                <a:latin typeface="Aptos"/>
              </a:rPr>
              <a:t>2  CHECK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Check availability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87952" y="6382512"/>
            <a:ext cx="182879" cy="0"/>
          </a:xfrm>
          <a:prstGeom prst="line">
            <a:avLst/>
          </a:prstGeom>
          <a:ln w="25400">
            <a:solidFill>
              <a:srgbClr val="505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34840" y="5806440"/>
            <a:ext cx="1627632" cy="1143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6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65269"/>
                </a:solidFill>
                <a:latin typeface="Aptos"/>
              </a:rPr>
              <a:t>3  LOCK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Apply lock / synchronize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62472" y="6382512"/>
            <a:ext cx="182880" cy="0"/>
          </a:xfrm>
          <a:prstGeom prst="line">
            <a:avLst/>
          </a:prstGeom>
          <a:ln w="25400">
            <a:solidFill>
              <a:srgbClr val="505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59" y="5806440"/>
            <a:ext cx="1627632" cy="1143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6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65269"/>
                </a:solidFill>
                <a:latin typeface="Aptos"/>
              </a:rPr>
              <a:t>4  RESERVE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Reserve ticket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36992" y="6382512"/>
            <a:ext cx="182879" cy="0"/>
          </a:xfrm>
          <a:prstGeom prst="line">
            <a:avLst/>
          </a:prstGeom>
          <a:ln w="25400">
            <a:solidFill>
              <a:srgbClr val="505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83879" y="5806440"/>
            <a:ext cx="1627632" cy="1143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6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65269"/>
                </a:solidFill>
                <a:latin typeface="Aptos"/>
              </a:rPr>
              <a:t>5  UPDATE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Update status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11511" y="6382512"/>
            <a:ext cx="182881" cy="0"/>
          </a:xfrm>
          <a:prstGeom prst="line">
            <a:avLst/>
          </a:prstGeom>
          <a:ln w="25400">
            <a:solidFill>
              <a:srgbClr val="505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58400" y="5806440"/>
            <a:ext cx="1627632" cy="1143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6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65269"/>
                </a:solidFill>
                <a:latin typeface="Aptos"/>
              </a:rPr>
              <a:t>6  CONFIRM</a:t>
            </a:r>
          </a:p>
          <a:p>
            <a:pPr algn="ctr"/>
            <a:r>
              <a:rPr sz="1050">
                <a:solidFill>
                  <a:srgbClr val="464E5A"/>
                </a:solidFill>
                <a:latin typeface="Aptos"/>
              </a:rPr>
              <a:t>Save &amp; confirm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05916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Java • Spring Boot • Spring Data JPA • MySQL • Postman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